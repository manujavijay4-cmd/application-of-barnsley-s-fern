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2" r:id="rId1"/>
  </p:sldMasterIdLst>
  <p:notesMasterIdLst>
    <p:notesMasterId r:id="rId23"/>
  </p:notesMasterIdLst>
  <p:sldIdLst>
    <p:sldId id="256" r:id="rId2"/>
    <p:sldId id="292" r:id="rId3"/>
    <p:sldId id="288" r:id="rId4"/>
    <p:sldId id="289" r:id="rId5"/>
    <p:sldId id="263" r:id="rId6"/>
    <p:sldId id="268" r:id="rId7"/>
    <p:sldId id="291" r:id="rId8"/>
    <p:sldId id="270" r:id="rId9"/>
    <p:sldId id="266" r:id="rId10"/>
    <p:sldId id="269" r:id="rId11"/>
    <p:sldId id="293" r:id="rId12"/>
    <p:sldId id="279" r:id="rId13"/>
    <p:sldId id="274" r:id="rId14"/>
    <p:sldId id="280" r:id="rId15"/>
    <p:sldId id="281" r:id="rId16"/>
    <p:sldId id="282" r:id="rId17"/>
    <p:sldId id="283" r:id="rId18"/>
    <p:sldId id="285" r:id="rId19"/>
    <p:sldId id="286" r:id="rId20"/>
    <p:sldId id="287" r:id="rId21"/>
    <p:sldId id="294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CBF885-84AE-4C68-950E-69907030E589}" v="506" dt="2025-11-17T08:37:36.8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878" autoAdjust="0"/>
    <p:restoredTop sz="89542" autoAdjust="0"/>
  </p:normalViewPr>
  <p:slideViewPr>
    <p:cSldViewPr snapToGrid="0">
      <p:cViewPr varScale="1">
        <p:scale>
          <a:sx n="74" d="100"/>
          <a:sy n="74" d="100"/>
        </p:scale>
        <p:origin x="31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F00D2F-0648-488B-B549-38400188DB73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031DB1-46D6-4E55-899A-8115006C4A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328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31DB1-46D6-4E55-899A-8115006C4AAC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2247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31DB1-46D6-4E55-899A-8115006C4AAC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993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89475135-E703-4113-8EA6-863E4721EBDE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8EDE7C35-4C2D-47E0-BB48-6ACF99C7B76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452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75135-E703-4113-8EA6-863E4721EBDE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7C35-4C2D-47E0-BB48-6ACF99C7B7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7406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75135-E703-4113-8EA6-863E4721EBDE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7C35-4C2D-47E0-BB48-6ACF99C7B76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9867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75135-E703-4113-8EA6-863E4721EBDE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7C35-4C2D-47E0-BB48-6ACF99C7B7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077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75135-E703-4113-8EA6-863E4721EBDE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7C35-4C2D-47E0-BB48-6ACF99C7B76B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3960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75135-E703-4113-8EA6-863E4721EBDE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7C35-4C2D-47E0-BB48-6ACF99C7B76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5243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75135-E703-4113-8EA6-863E4721EBDE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7C35-4C2D-47E0-BB48-6ACF99C7B7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947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75135-E703-4113-8EA6-863E4721EBDE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7C35-4C2D-47E0-BB48-6ACF99C7B76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2512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75135-E703-4113-8EA6-863E4721EBDE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7C35-4C2D-47E0-BB48-6ACF99C7B7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1319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75135-E703-4113-8EA6-863E4721EBDE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7C35-4C2D-47E0-BB48-6ACF99C7B7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363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75135-E703-4113-8EA6-863E4721EBDE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7C35-4C2D-47E0-BB48-6ACF99C7B76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69901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75135-E703-4113-8EA6-863E4721EBDE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7C35-4C2D-47E0-BB48-6ACF99C7B76B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97902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75135-E703-4113-8EA6-863E4721EBDE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7C35-4C2D-47E0-BB48-6ACF99C7B7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93768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75135-E703-4113-8EA6-863E4721EBDE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7C35-4C2D-47E0-BB48-6ACF99C7B76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73193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75135-E703-4113-8EA6-863E4721EBDE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7C35-4C2D-47E0-BB48-6ACF99C7B76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86117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75135-E703-4113-8EA6-863E4721EBDE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7C35-4C2D-47E0-BB48-6ACF99C7B76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05893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75135-E703-4113-8EA6-863E4721EBDE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7C35-4C2D-47E0-BB48-6ACF99C7B76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5718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9475135-E703-4113-8EA6-863E4721EBDE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EDE7C35-4C2D-47E0-BB48-6ACF99C7B7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6724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  <p:sldLayoutId id="2147483944" r:id="rId2"/>
    <p:sldLayoutId id="2147483945" r:id="rId3"/>
    <p:sldLayoutId id="2147483946" r:id="rId4"/>
    <p:sldLayoutId id="2147483947" r:id="rId5"/>
    <p:sldLayoutId id="2147483948" r:id="rId6"/>
    <p:sldLayoutId id="2147483949" r:id="rId7"/>
    <p:sldLayoutId id="2147483950" r:id="rId8"/>
    <p:sldLayoutId id="2147483951" r:id="rId9"/>
    <p:sldLayoutId id="2147483952" r:id="rId10"/>
    <p:sldLayoutId id="2147483953" r:id="rId11"/>
    <p:sldLayoutId id="2147483954" r:id="rId12"/>
    <p:sldLayoutId id="2147483955" r:id="rId13"/>
    <p:sldLayoutId id="2147483956" r:id="rId14"/>
    <p:sldLayoutId id="2147483957" r:id="rId15"/>
    <p:sldLayoutId id="2147483958" r:id="rId16"/>
    <p:sldLayoutId id="21474839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://localhost:8888/notebooks/linear%20project%20.ipynb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Barnsley_fern" TargetMode="Externa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21E0E-C7D0-9876-D1A7-C55CF05F21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2398" y="1580147"/>
            <a:ext cx="6815669" cy="1806517"/>
          </a:xfrm>
        </p:spPr>
        <p:txBody>
          <a:bodyPr>
            <a:normAutofit/>
          </a:bodyPr>
          <a:lstStyle/>
          <a:p>
            <a:r>
              <a:rPr lang="en-IN" sz="4000" b="1" dirty="0"/>
              <a:t>Statistical Analysis of Barnsley’s Fern : </a:t>
            </a:r>
            <a:r>
              <a:rPr lang="en-IN" sz="3200" dirty="0"/>
              <a:t>An Application of linear algebra in fractals.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35C41A-D426-9983-DB9F-19F1F25BFE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8" y="3553326"/>
            <a:ext cx="6815669" cy="1892969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Submitted By : </a:t>
            </a:r>
            <a:r>
              <a:rPr lang="en-IN" dirty="0"/>
              <a:t>Manuja Chavan &amp; Sukhada </a:t>
            </a:r>
            <a:r>
              <a:rPr lang="en-IN" dirty="0" err="1"/>
              <a:t>Pinjan</a:t>
            </a:r>
            <a:r>
              <a:rPr lang="en-IN" dirty="0"/>
              <a:t> </a:t>
            </a:r>
          </a:p>
          <a:p>
            <a:r>
              <a:rPr lang="en-IN" b="1" dirty="0"/>
              <a:t>Course Name :</a:t>
            </a:r>
            <a:r>
              <a:rPr lang="en-IN" dirty="0"/>
              <a:t> IMCA 1 (Statistics And Probability )</a:t>
            </a:r>
          </a:p>
          <a:p>
            <a:r>
              <a:rPr lang="en-IN" b="1" dirty="0"/>
              <a:t>Department of Mathematics</a:t>
            </a:r>
          </a:p>
          <a:p>
            <a:r>
              <a:rPr lang="en-IN" b="1" dirty="0"/>
              <a:t>College Name : </a:t>
            </a:r>
            <a:r>
              <a:rPr lang="en-IN" dirty="0"/>
              <a:t>Savitribai Phule Pune University</a:t>
            </a:r>
          </a:p>
          <a:p>
            <a:r>
              <a:rPr lang="en-IN" b="1" dirty="0"/>
              <a:t>Academic Year : </a:t>
            </a:r>
            <a:r>
              <a:rPr lang="en-IN" dirty="0"/>
              <a:t>2025 -2026 </a:t>
            </a:r>
          </a:p>
        </p:txBody>
      </p:sp>
    </p:spTree>
    <p:extLst>
      <p:ext uri="{BB962C8B-B14F-4D97-AF65-F5344CB8AC3E}">
        <p14:creationId xmlns:p14="http://schemas.microsoft.com/office/powerpoint/2010/main" val="2558982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F5A13-8C5F-1819-3243-F0D5999B3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747C9-10A6-4F4E-36F3-2BB890C8E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4230328" cy="3640668"/>
          </a:xfrm>
        </p:spPr>
        <p:txBody>
          <a:bodyPr>
            <a:normAutofit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chemeClr val="tx1"/>
                </a:solidFill>
              </a:rPr>
              <a:t>Acknowledgement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IN" sz="2000" dirty="0"/>
              <a:t>Abstract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IN" sz="2000" dirty="0"/>
              <a:t>Introduction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IN" sz="2000" dirty="0"/>
              <a:t>Objective</a:t>
            </a:r>
          </a:p>
          <a:p>
            <a:pPr>
              <a:buClr>
                <a:schemeClr val="bg2">
                  <a:lumMod val="10000"/>
                </a:schemeClr>
              </a:buClr>
              <a:buFont typeface="Wingdings" panose="05000000000000000000" pitchFamily="2" charset="2"/>
              <a:buChar char="§"/>
            </a:pPr>
            <a:r>
              <a:rPr lang="en-IN" sz="2000" dirty="0"/>
              <a:t>Importance Of Barnsley’s Fern</a:t>
            </a:r>
          </a:p>
          <a:p>
            <a:pPr>
              <a:buClr>
                <a:schemeClr val="bg2">
                  <a:lumMod val="10000"/>
                </a:schemeClr>
              </a:buClr>
              <a:buFont typeface="Wingdings" panose="05000000000000000000" pitchFamily="2" charset="2"/>
              <a:buChar char="§"/>
            </a:pPr>
            <a:r>
              <a:rPr lang="en-IN" sz="2000" dirty="0"/>
              <a:t>Mathematics Representation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IN" sz="2000" dirty="0"/>
              <a:t>Transformation Rule</a:t>
            </a:r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2A869E-D292-1780-FEFD-4D3B9D85AC60}"/>
              </a:ext>
            </a:extLst>
          </p:cNvPr>
          <p:cNvSpPr txBox="1"/>
          <p:nvPr/>
        </p:nvSpPr>
        <p:spPr>
          <a:xfrm>
            <a:off x="6334125" y="2396558"/>
            <a:ext cx="3925528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Statistical Process Behind Fern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Output Of Barnsley’s Fern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Statistical Analysis Of Barnsley’s Fern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Conclusion And Real Life Application</a:t>
            </a:r>
          </a:p>
          <a:p>
            <a:endParaRPr lang="en-IN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References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9861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EAE6F-6CB4-5E4D-DB0E-F7564B248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1236133"/>
            <a:ext cx="9601196" cy="938108"/>
          </a:xfrm>
        </p:spPr>
        <p:txBody>
          <a:bodyPr>
            <a:normAutofit/>
          </a:bodyPr>
          <a:lstStyle/>
          <a:p>
            <a:r>
              <a:rPr lang="en-IN" sz="3600" b="1" dirty="0"/>
              <a:t>Acknowledgement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D2E6D-A4ED-9DC2-9255-478D36AAA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sincerely thank our respected guide Dr. Ganesh Kadu sir for their continuous support and valuable guidance throughout this project.</a:t>
            </a:r>
          </a:p>
          <a:p>
            <a:pPr marL="0" indent="0">
              <a:buNone/>
            </a:pPr>
            <a:r>
              <a:rPr lang="en-US" dirty="0"/>
              <a:t>We also thank the Department of Mathematics for providing the opportunity to explore the connection between Linear Algebra, Statistics, and Fractals through this project.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8267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09CBE-70B2-65D9-F79D-984FDCE2D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1019388"/>
          </a:xfrm>
        </p:spPr>
        <p:txBody>
          <a:bodyPr>
            <a:normAutofit/>
          </a:bodyPr>
          <a:lstStyle/>
          <a:p>
            <a:r>
              <a:rPr lang="en-IN" sz="3600" b="1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ADE2-6467-3F1D-6EC3-12D2BDD98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This project explores the Barnsley’s Fern, a fractal generated through Iterated Function Systems (IFS) using four linear transformations with assigned probabilities.</a:t>
            </a:r>
          </a:p>
          <a:p>
            <a:pPr marL="0" indent="0">
              <a:buNone/>
            </a:pPr>
            <a:r>
              <a:rPr lang="en-US" dirty="0"/>
              <a:t> The fern pattern was created using Python and analyzed statistically through mean, variance, standard deviation, and a Chi-square test.</a:t>
            </a:r>
          </a:p>
          <a:p>
            <a:pPr marL="0" indent="0">
              <a:buNone/>
            </a:pPr>
            <a:r>
              <a:rPr lang="en-US" dirty="0"/>
              <a:t> Results show that the random process aligns with theoretical probabilities, confirming the mathematical consistency of the model. </a:t>
            </a:r>
          </a:p>
          <a:p>
            <a:pPr marL="0" indent="0">
              <a:buNone/>
            </a:pPr>
            <a:r>
              <a:rPr lang="en-US" dirty="0"/>
              <a:t>The study highlights how Linear Algebra and Statistics together can explain complex natural patterns through simple mathematical rules.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9432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22E51-CE80-D133-7D92-EB2985077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8761" y="931332"/>
            <a:ext cx="3838072" cy="1303867"/>
          </a:xfrm>
        </p:spPr>
        <p:txBody>
          <a:bodyPr/>
          <a:lstStyle/>
          <a:p>
            <a:r>
              <a:rPr lang="en-IN" b="1" dirty="0"/>
              <a:t>Introduction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7A250-D580-4568-7B70-FCD99106A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2738" y="2422358"/>
            <a:ext cx="8687010" cy="3919448"/>
          </a:xfrm>
        </p:spPr>
        <p:txBody>
          <a:bodyPr>
            <a:normAutofit/>
          </a:bodyPr>
          <a:lstStyle/>
          <a:p>
            <a:pPr marL="914400" lvl="2" indent="0">
              <a:buNone/>
            </a:pPr>
            <a:r>
              <a:rPr lang="en-IN" sz="2000" b="1" dirty="0"/>
              <a:t>What Are Fractals? </a:t>
            </a:r>
          </a:p>
          <a:p>
            <a:pPr marL="914400" lvl="2" indent="0">
              <a:buNone/>
            </a:pPr>
            <a:r>
              <a:rPr lang="en-US" dirty="0"/>
              <a:t>Fractals are complex geometric figures that display self-similarity at every scale. They are created through repetitive mathematical transformations and are often used to model natural patterns like trees, ferns, and clouds.</a:t>
            </a:r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r>
              <a:rPr lang="en-US" dirty="0"/>
              <a:t>One of the most famous examples of fractals is </a:t>
            </a:r>
            <a:r>
              <a:rPr lang="en-US" b="1" dirty="0"/>
              <a:t>Barnsley’s Fern</a:t>
            </a:r>
            <a:r>
              <a:rPr lang="en-US" dirty="0"/>
              <a:t>, which uses linear algebra transformations to generate a realistic fern-like structure.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3943B0-8950-6526-4DC0-7FAA1855A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5254" y="3744725"/>
            <a:ext cx="1900989" cy="1323475"/>
          </a:xfrm>
          <a:prstGeom prst="rect">
            <a:avLst/>
          </a:prstGeom>
        </p:spPr>
      </p:pic>
      <p:pic>
        <p:nvPicPr>
          <p:cNvPr id="1026" name="Picture 2" descr="Fractal Mandelbrot Set">
            <a:extLst>
              <a:ext uri="{FF2B5EF4-FFF2-40B4-BE49-F238E27FC236}">
                <a16:creationId xmlns:a16="http://schemas.microsoft.com/office/drawing/2014/main" id="{58C4CD56-34B6-E243-20DC-8C600A745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6095999" y="3744722"/>
            <a:ext cx="2109537" cy="1323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642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893D4-3695-AA02-0A89-FE28B96E5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1" y="1361262"/>
            <a:ext cx="8752839" cy="694268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Introduction to Barnsley’s Fern :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E87FD5F-7212-28FA-4E15-5FFA3559334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295401" y="2556932"/>
            <a:ext cx="9601196" cy="2459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Barnsley’s Fern</a:t>
            </a:r>
            <a:r>
              <a:rPr lang="en-US" dirty="0"/>
              <a:t>, introduced by </a:t>
            </a:r>
            <a:r>
              <a:rPr lang="en-US" b="1" dirty="0"/>
              <a:t>Michael Barnsley (1988)</a:t>
            </a:r>
            <a:r>
              <a:rPr lang="en-US" dirty="0"/>
              <a:t>, is created using an </a:t>
            </a:r>
            <a:r>
              <a:rPr lang="en-US" b="1" dirty="0"/>
              <a:t>Iterated Function System (</a:t>
            </a:r>
            <a:r>
              <a:rPr lang="en-US" b="1"/>
              <a:t>IFS)  </a:t>
            </a:r>
            <a:r>
              <a:rPr lang="en-US"/>
              <a:t>four </a:t>
            </a:r>
            <a:r>
              <a:rPr lang="en-US" dirty="0"/>
              <a:t>linear equations that repeatedly transform points with scaling, rotation, and translation based on </a:t>
            </a:r>
            <a:r>
              <a:rPr lang="en-US"/>
              <a:t>probabilities.</a:t>
            </a:r>
          </a:p>
          <a:p>
            <a:r>
              <a:rPr lang="en-US" dirty="0"/>
              <a:t> Repeating this process thousands of times forms a fractal resembling a </a:t>
            </a:r>
            <a:r>
              <a:rPr lang="en-US" b="1" dirty="0"/>
              <a:t>natural fern</a:t>
            </a:r>
            <a:r>
              <a:rPr lang="en-US" dirty="0"/>
              <a:t>, linking </a:t>
            </a:r>
            <a:r>
              <a:rPr lang="en-US" b="1" dirty="0"/>
              <a:t>linear algebra</a:t>
            </a:r>
            <a:r>
              <a:rPr lang="en-US" dirty="0"/>
              <a:t> and </a:t>
            </a:r>
            <a:r>
              <a:rPr lang="en-US" b="1" dirty="0"/>
              <a:t>statistics</a:t>
            </a:r>
            <a:r>
              <a:rPr lang="en-US" dirty="0"/>
              <a:t> beautifully.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81801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7BC64A-CCCE-3F91-6755-7D85E43C8A1A}"/>
              </a:ext>
            </a:extLst>
          </p:cNvPr>
          <p:cNvSpPr txBox="1"/>
          <p:nvPr/>
        </p:nvSpPr>
        <p:spPr>
          <a:xfrm>
            <a:off x="1320800" y="2151727"/>
            <a:ext cx="9550400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The objective of this project as follows:-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IN" sz="2400" dirty="0"/>
              <a:t>Generate Barnsley’s Fern using linear transformation &amp; (IFS).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IN" sz="2400" dirty="0"/>
              <a:t>Apply the statistical tools to analyse the distribution of generated data points.  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IN" sz="2400" dirty="0"/>
              <a:t>To test the randomness of the fern using chi square test.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IN" sz="2400" dirty="0"/>
              <a:t>To summarize the distribution of fractal point using descriptive statistics.      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IN" sz="2400" dirty="0"/>
              <a:t>Visualize the Barnsley’s Fern using python programming and interpret the result through statistical analysis.            </a:t>
            </a:r>
          </a:p>
          <a:p>
            <a:endParaRPr lang="en-IN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EC28CB-70A9-3598-3FB8-CE985A37E7FB}"/>
              </a:ext>
            </a:extLst>
          </p:cNvPr>
          <p:cNvSpPr txBox="1"/>
          <p:nvPr/>
        </p:nvSpPr>
        <p:spPr>
          <a:xfrm>
            <a:off x="4551680" y="1117600"/>
            <a:ext cx="4429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Objectives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305818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3494F-7D51-6022-192D-6ED665248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8" y="829732"/>
            <a:ext cx="10713721" cy="1303867"/>
          </a:xfrm>
        </p:spPr>
        <p:txBody>
          <a:bodyPr>
            <a:normAutofit/>
          </a:bodyPr>
          <a:lstStyle/>
          <a:p>
            <a:r>
              <a:rPr lang="en-IN" sz="3200" b="1" dirty="0"/>
              <a:t>Importance Of Barnsley’s Fern in Statistics and Mathematics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3C718-7805-F1FD-BA07-D52EED1DB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457200" indent="-457200">
              <a:buClr>
                <a:schemeClr val="bg2">
                  <a:lumMod val="10000"/>
                </a:schemeClr>
              </a:buClr>
              <a:buFont typeface="+mj-lt"/>
              <a:buAutoNum type="arabicParenR"/>
            </a:pPr>
            <a:r>
              <a:rPr lang="en-IN" sz="3300" b="1" dirty="0"/>
              <a:t>Fractal Modelling</a:t>
            </a:r>
          </a:p>
          <a:p>
            <a:pPr marL="457200" indent="-457200">
              <a:buClr>
                <a:schemeClr val="bg2">
                  <a:lumMod val="10000"/>
                </a:schemeClr>
              </a:buClr>
              <a:buFont typeface="+mj-lt"/>
              <a:buAutoNum type="arabicParenR"/>
            </a:pPr>
            <a:endParaRPr lang="en-IN" sz="3000" dirty="0"/>
          </a:p>
          <a:p>
            <a:pPr marL="457200" indent="-457200">
              <a:buClr>
                <a:schemeClr val="bg2">
                  <a:lumMod val="10000"/>
                </a:schemeClr>
              </a:buClr>
              <a:buFont typeface="+mj-lt"/>
              <a:buAutoNum type="arabicParenR"/>
            </a:pPr>
            <a:r>
              <a:rPr lang="en-IN" sz="3300" b="1" dirty="0"/>
              <a:t>Randomness </a:t>
            </a:r>
          </a:p>
          <a:p>
            <a:pPr marL="457200" indent="-457200">
              <a:buClr>
                <a:schemeClr val="bg2">
                  <a:lumMod val="10000"/>
                </a:schemeClr>
              </a:buClr>
              <a:buFont typeface="+mj-lt"/>
              <a:buAutoNum type="arabicParenR"/>
            </a:pPr>
            <a:endParaRPr lang="en-IN" dirty="0"/>
          </a:p>
          <a:p>
            <a:pPr marL="457200" indent="-457200">
              <a:buClr>
                <a:schemeClr val="bg2">
                  <a:lumMod val="10000"/>
                </a:schemeClr>
              </a:buClr>
              <a:buFont typeface="+mj-lt"/>
              <a:buAutoNum type="arabicParenR"/>
            </a:pPr>
            <a:r>
              <a:rPr lang="en-IN" sz="3300" b="1" dirty="0"/>
              <a:t>Nature Simulation</a:t>
            </a:r>
          </a:p>
          <a:p>
            <a:pPr marL="457200" indent="-457200">
              <a:buClr>
                <a:schemeClr val="bg2">
                  <a:lumMod val="10000"/>
                </a:schemeClr>
              </a:buClr>
              <a:buFont typeface="+mj-lt"/>
              <a:buAutoNum type="arabicParenR"/>
            </a:pPr>
            <a:endParaRPr lang="en-IN" dirty="0"/>
          </a:p>
          <a:p>
            <a:pPr marL="457200" indent="-457200">
              <a:buClr>
                <a:schemeClr val="bg2">
                  <a:lumMod val="10000"/>
                </a:schemeClr>
              </a:buClr>
              <a:buFont typeface="+mj-lt"/>
              <a:buAutoNum type="arabicParenR"/>
            </a:pPr>
            <a:r>
              <a:rPr lang="en-IN" sz="3500" b="1" dirty="0"/>
              <a:t>Probability</a:t>
            </a:r>
          </a:p>
        </p:txBody>
      </p:sp>
    </p:spTree>
    <p:extLst>
      <p:ext uri="{BB962C8B-B14F-4D97-AF65-F5344CB8AC3E}">
        <p14:creationId xmlns:p14="http://schemas.microsoft.com/office/powerpoint/2010/main" val="1561201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756D3-1D85-1C90-A950-6E7AD7977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54811"/>
            <a:ext cx="10063479" cy="1303867"/>
          </a:xfrm>
        </p:spPr>
        <p:txBody>
          <a:bodyPr>
            <a:normAutofit/>
          </a:bodyPr>
          <a:lstStyle/>
          <a:p>
            <a:r>
              <a:rPr lang="en-IN" sz="3600" b="1" dirty="0"/>
              <a:t>Mathematical Representation of Barnsley’s Fern  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281BC2-1F42-9F43-89BC-626EE23B1C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55032" y="2430379"/>
                <a:ext cx="10411325" cy="386549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Barnsley’s Fern is generated using four linear transformations (T₁, T₂, T₃, T₄).  Each transformation moves a point (x, y) → (x′, y′) on the plane using this general rule: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i="0" dirty="0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i="0" dirty="0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0" dirty="0" smtClean="0">
                                    <a:latin typeface="Cambria Math" panose="02040503050406030204" pitchFamily="18" charset="0"/>
                                  </a:rPr>
                                  <m:t>ⅇ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a , b , c , d are scaling and rotation coefficients, and e , f are shifting constants.</a:t>
                </a:r>
              </a:p>
              <a:p>
                <a:pPr marL="0" indent="0">
                  <a:buNone/>
                </a:pPr>
                <a:r>
                  <a:rPr lang="en-US" dirty="0"/>
                  <a:t>We use the </a:t>
                </a:r>
                <a:r>
                  <a:rPr lang="en-US" dirty="0" err="1"/>
                  <a:t>a,b,c,d,e,f</a:t>
                </a:r>
                <a:r>
                  <a:rPr lang="en-US" dirty="0"/>
                  <a:t> are the values given by </a:t>
                </a:r>
                <a:r>
                  <a:rPr lang="en-US" dirty="0" err="1"/>
                  <a:t>Bernsley’s</a:t>
                </a:r>
                <a:r>
                  <a:rPr lang="en-US" dirty="0"/>
                  <a:t> as follows.</a:t>
                </a:r>
              </a:p>
              <a:p>
                <a:pPr marL="0" indent="0">
                  <a:buNone/>
                </a:pPr>
                <a:r>
                  <a:rPr lang="en-US" dirty="0"/>
                  <a:t> </a:t>
                </a:r>
                <a:r>
                  <a:rPr lang="en-IN" sz="1600" b="1" dirty="0"/>
                  <a:t>Here’s a python program to form a fractal: </a:t>
                </a:r>
                <a:r>
                  <a:rPr lang="en-IN" sz="1600" b="1" dirty="0">
                    <a:hlinkClick r:id="rId2"/>
                  </a:rPr>
                  <a:t>http://localhost:8888/notebooks/linear%20project%20.ipynb</a:t>
                </a:r>
                <a:endParaRPr lang="en-IN" sz="1600" b="1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281BC2-1F42-9F43-89BC-626EE23B1C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55032" y="2430379"/>
                <a:ext cx="10411325" cy="3865490"/>
              </a:xfrm>
              <a:blipFill>
                <a:blip r:embed="rId3"/>
                <a:stretch>
                  <a:fillRect l="-878" t="-15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4088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DF70B-F9E8-02B9-703D-8739266BF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020243"/>
            <a:ext cx="5210693" cy="67090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Transformation Rules :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83B74E6-3B8E-F034-1172-2E268D07FA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9764691"/>
              </p:ext>
            </p:extLst>
          </p:nvPr>
        </p:nvGraphicFramePr>
        <p:xfrm>
          <a:off x="1295400" y="2251587"/>
          <a:ext cx="9601200" cy="369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1097885729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384905597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4190748766"/>
                    </a:ext>
                  </a:extLst>
                </a:gridCol>
              </a:tblGrid>
              <a:tr h="460881">
                <a:tc>
                  <a:txBody>
                    <a:bodyPr/>
                    <a:lstStyle/>
                    <a:p>
                      <a:r>
                        <a:rPr lang="en-IN" sz="1600" dirty="0"/>
                        <a:t>Transformation</a:t>
                      </a:r>
                      <a:r>
                        <a:rPr lang="en-IN" dirty="0"/>
                        <a:t> 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Equation 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Probability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7765987"/>
                  </a:ext>
                </a:extLst>
              </a:tr>
              <a:tr h="806542">
                <a:tc>
                  <a:txBody>
                    <a:bodyPr/>
                    <a:lstStyle/>
                    <a:p>
                      <a:r>
                        <a:rPr lang="en-IN" dirty="0"/>
                        <a:t>T1(stem)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X’ = 0x + 0y</a:t>
                      </a:r>
                    </a:p>
                    <a:p>
                      <a:r>
                        <a:rPr lang="en-IN" dirty="0"/>
                        <a:t>Y’ = 0x + 0.16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305976"/>
                  </a:ext>
                </a:extLst>
              </a:tr>
              <a:tr h="809835">
                <a:tc>
                  <a:txBody>
                    <a:bodyPr/>
                    <a:lstStyle/>
                    <a:p>
                      <a:r>
                        <a:rPr lang="en-IN" dirty="0"/>
                        <a:t>T2(Main Leaflets)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X’ = 0.85x +0.04y</a:t>
                      </a:r>
                    </a:p>
                    <a:p>
                      <a:r>
                        <a:rPr lang="en-IN" dirty="0"/>
                        <a:t>Y’ = -0.04x + 0.85y +1.60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6244400"/>
                  </a:ext>
                </a:extLst>
              </a:tr>
              <a:tr h="809835">
                <a:tc>
                  <a:txBody>
                    <a:bodyPr/>
                    <a:lstStyle/>
                    <a:p>
                      <a:r>
                        <a:rPr lang="en-IN" dirty="0"/>
                        <a:t>T3(Left Leaflets)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X’ = 0.20x - 0.26y</a:t>
                      </a:r>
                    </a:p>
                    <a:p>
                      <a:r>
                        <a:rPr lang="en-IN" dirty="0"/>
                        <a:t>Y’ =  0.23x + 0.22y +1.60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0094926"/>
                  </a:ext>
                </a:extLst>
              </a:tr>
              <a:tr h="809835">
                <a:tc>
                  <a:txBody>
                    <a:bodyPr/>
                    <a:lstStyle/>
                    <a:p>
                      <a:r>
                        <a:rPr lang="en-IN" dirty="0"/>
                        <a:t>T4(Right Leaflets)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X’ = -0.15x + 0.28y</a:t>
                      </a:r>
                    </a:p>
                    <a:p>
                      <a:r>
                        <a:rPr lang="en-IN" dirty="0"/>
                        <a:t>Y’ = 0.26x + 0.24y +0.44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43471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4002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B446EF6-2FFF-A42B-E4C1-FCFBCFE363C3}"/>
              </a:ext>
            </a:extLst>
          </p:cNvPr>
          <p:cNvSpPr txBox="1"/>
          <p:nvPr/>
        </p:nvSpPr>
        <p:spPr>
          <a:xfrm>
            <a:off x="2316480" y="5011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Fractal fern in four states of construction </a:t>
            </a:r>
            <a:endParaRPr lang="en-IN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79FF28-3AC6-466B-DB02-4E3421DF0D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12442" y="1238487"/>
            <a:ext cx="6898639" cy="470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C74CCB-0D4C-409D-18BC-95D7C973FECA}"/>
              </a:ext>
            </a:extLst>
          </p:cNvPr>
          <p:cNvSpPr txBox="1"/>
          <p:nvPr/>
        </p:nvSpPr>
        <p:spPr>
          <a:xfrm>
            <a:off x="3180080" y="1129544"/>
            <a:ext cx="276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/>
              <a:t>1. Define Transformation</a:t>
            </a:r>
            <a:endParaRPr lang="en-IN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629BEB-93EC-3EA1-2C17-CE3AD9048313}"/>
              </a:ext>
            </a:extLst>
          </p:cNvPr>
          <p:cNvSpPr txBox="1"/>
          <p:nvPr/>
        </p:nvSpPr>
        <p:spPr>
          <a:xfrm>
            <a:off x="6944358" y="1129544"/>
            <a:ext cx="223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/>
              <a:t>2) Apply repeatedly</a:t>
            </a:r>
            <a:endParaRPr lang="en-IN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F11373-1610-DECD-6DCB-689BA92457D4}"/>
              </a:ext>
            </a:extLst>
          </p:cNvPr>
          <p:cNvSpPr txBox="1"/>
          <p:nvPr/>
        </p:nvSpPr>
        <p:spPr>
          <a:xfrm>
            <a:off x="3180080" y="5882361"/>
            <a:ext cx="2550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/>
              <a:t>3) Increase Iteration</a:t>
            </a:r>
            <a:endParaRPr lang="en-IN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AD7D24-88F9-96CD-FA7A-84414C66ADE8}"/>
              </a:ext>
            </a:extLst>
          </p:cNvPr>
          <p:cNvSpPr txBox="1"/>
          <p:nvPr/>
        </p:nvSpPr>
        <p:spPr>
          <a:xfrm>
            <a:off x="6814820" y="5944354"/>
            <a:ext cx="2011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/>
              <a:t>4) Form Full Fern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698685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A2A84BC-E8DD-0709-4999-018A6C4DF69D}"/>
              </a:ext>
            </a:extLst>
          </p:cNvPr>
          <p:cNvSpPr txBox="1"/>
          <p:nvPr/>
        </p:nvSpPr>
        <p:spPr>
          <a:xfrm>
            <a:off x="3613683" y="717608"/>
            <a:ext cx="5594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Output Of Barnsley’s Fern 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0F2923-1DC3-7E26-EC07-6C4D453945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929" y="1373503"/>
            <a:ext cx="4788310" cy="4695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750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0986C-83B7-FB5B-CC61-F35F9A257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/>
              <a:t>Statistical Process Behind Fern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AEB12-2638-1E6D-C647-DD060A79A9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7919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this project, statistical concepts were used to analyze and understand the numerical patterns generated by Barnsley’s Fern. The process involved the following steps:</a:t>
            </a:r>
          </a:p>
          <a:p>
            <a:pPr marL="457200" indent="-457200">
              <a:buClr>
                <a:schemeClr val="tx1">
                  <a:lumMod val="95000"/>
                  <a:lumOff val="5000"/>
                </a:schemeClr>
              </a:buClr>
              <a:buAutoNum type="arabicPeriod"/>
            </a:pPr>
            <a:r>
              <a:rPr lang="en-US" b="1" dirty="0"/>
              <a:t>Data Generation </a:t>
            </a:r>
          </a:p>
          <a:p>
            <a:pPr marL="457200" indent="-457200">
              <a:buClr>
                <a:schemeClr val="bg2">
                  <a:lumMod val="10000"/>
                </a:schemeClr>
              </a:buClr>
              <a:buFont typeface="+mj-lt"/>
              <a:buAutoNum type="arabicPeriod"/>
            </a:pPr>
            <a:r>
              <a:rPr lang="en-US" b="1" dirty="0"/>
              <a:t>Data Collection</a:t>
            </a:r>
          </a:p>
          <a:p>
            <a:pPr marL="457200" indent="-457200">
              <a:buClr>
                <a:schemeClr val="bg2">
                  <a:lumMod val="10000"/>
                </a:schemeClr>
              </a:buClr>
              <a:buFont typeface="+mj-lt"/>
              <a:buAutoNum type="arabicPeriod"/>
            </a:pPr>
            <a:r>
              <a:rPr lang="en-US" b="1" dirty="0"/>
              <a:t>Descriptive Statistics</a:t>
            </a:r>
          </a:p>
          <a:p>
            <a:pPr marL="457200" indent="-457200">
              <a:buAutoNum type="arabicPeriod"/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6C653B-5D38-84A6-8B17-742E4BA7CF13}"/>
              </a:ext>
            </a:extLst>
          </p:cNvPr>
          <p:cNvSpPr txBox="1"/>
          <p:nvPr/>
        </p:nvSpPr>
        <p:spPr>
          <a:xfrm>
            <a:off x="5818910" y="3792682"/>
            <a:ext cx="424988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4. Chi-square Test 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r>
              <a:rPr lang="en-IN" sz="2400" b="1" dirty="0"/>
              <a:t>5. Visualization</a:t>
            </a:r>
          </a:p>
        </p:txBody>
      </p:sp>
    </p:spTree>
    <p:extLst>
      <p:ext uri="{BB962C8B-B14F-4D97-AF65-F5344CB8AC3E}">
        <p14:creationId xmlns:p14="http://schemas.microsoft.com/office/powerpoint/2010/main" val="3452536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B9A6499-5C34-E2F5-521B-950FE3FC93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1613286"/>
              </p:ext>
            </p:extLst>
          </p:nvPr>
        </p:nvGraphicFramePr>
        <p:xfrm>
          <a:off x="2163233" y="2687320"/>
          <a:ext cx="786553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399">
                  <a:extLst>
                    <a:ext uri="{9D8B030D-6E8A-4147-A177-3AD203B41FA5}">
                      <a16:colId xmlns:a16="http://schemas.microsoft.com/office/drawing/2014/main" val="1964240456"/>
                    </a:ext>
                  </a:extLst>
                </a:gridCol>
                <a:gridCol w="2362201">
                  <a:extLst>
                    <a:ext uri="{9D8B030D-6E8A-4147-A177-3AD203B41FA5}">
                      <a16:colId xmlns:a16="http://schemas.microsoft.com/office/drawing/2014/main" val="417996986"/>
                    </a:ext>
                  </a:extLst>
                </a:gridCol>
                <a:gridCol w="2302933">
                  <a:extLst>
                    <a:ext uri="{9D8B030D-6E8A-4147-A177-3AD203B41FA5}">
                      <a16:colId xmlns:a16="http://schemas.microsoft.com/office/drawing/2014/main" val="12994147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X-values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Y-values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510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Mean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6.1937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Variance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1.4303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6.2976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717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Standard Deviation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1.19598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2.5095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08981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5E4CF14-5F49-B4C0-C50B-DFFB674EAA1E}"/>
              </a:ext>
            </a:extLst>
          </p:cNvPr>
          <p:cNvSpPr txBox="1"/>
          <p:nvPr/>
        </p:nvSpPr>
        <p:spPr>
          <a:xfrm>
            <a:off x="2745918" y="720325"/>
            <a:ext cx="69911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Descriptive Statistics Values For X &amp; 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0F80F1-D8F6-84DC-EB0C-D53C537C732F}"/>
              </a:ext>
            </a:extLst>
          </p:cNvPr>
          <p:cNvSpPr txBox="1"/>
          <p:nvPr/>
        </p:nvSpPr>
        <p:spPr>
          <a:xfrm>
            <a:off x="1261640" y="4780344"/>
            <a:ext cx="9421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mean and variance show that the fern’s x-values are tightly clustered, while the y-values are more spread out  indicating the fern’s vertical growth pattern.</a:t>
            </a:r>
            <a:endParaRPr lang="en-IN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5326D9-3650-EF60-1EEA-2EDF8B8CA62D}"/>
              </a:ext>
            </a:extLst>
          </p:cNvPr>
          <p:cNvSpPr txBox="1"/>
          <p:nvPr/>
        </p:nvSpPr>
        <p:spPr>
          <a:xfrm>
            <a:off x="2371725" y="1673044"/>
            <a:ext cx="60942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After generating the Barnsley’s Fern, the x and y coordinates of all points were analyzed statistically.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02656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0C8DB55-17D1-69EA-EDAD-75416F33E0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577620"/>
              </p:ext>
            </p:extLst>
          </p:nvPr>
        </p:nvGraphicFramePr>
        <p:xfrm>
          <a:off x="1295400" y="2557463"/>
          <a:ext cx="96012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600">
                  <a:extLst>
                    <a:ext uri="{9D8B030D-6E8A-4147-A177-3AD203B41FA5}">
                      <a16:colId xmlns:a16="http://schemas.microsoft.com/office/drawing/2014/main" val="4259095161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2829099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Statistics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931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Observed Frequencies: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[0.01046 , 0.85142 , 0.06852 , 0.0696]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9937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Expected probabilities: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[0.01 , 0.85 , 0.07 , 0.07 ]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565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Chi square Statistics: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2.85546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5658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P-value: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0.4144499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997504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A763C6F-FEA9-E0E4-84A0-A376F6A992D9}"/>
              </a:ext>
            </a:extLst>
          </p:cNvPr>
          <p:cNvSpPr txBox="1"/>
          <p:nvPr/>
        </p:nvSpPr>
        <p:spPr>
          <a:xfrm>
            <a:off x="1850920" y="1666422"/>
            <a:ext cx="8935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Chi-Square Test for Transformation Probabilities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2F5C10-1280-8126-F04D-4746E9608D49}"/>
              </a:ext>
            </a:extLst>
          </p:cNvPr>
          <p:cNvSpPr txBox="1"/>
          <p:nvPr/>
        </p:nvSpPr>
        <p:spPr>
          <a:xfrm>
            <a:off x="1295400" y="4624085"/>
            <a:ext cx="94912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Interpretation:  The chi-square test produce a p-value  of 0.4144 which is greater than 0.05 so it is a goodness of fit and accurate fern generate. 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436501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61A2DE-47D9-6B4B-1B6D-CC6B1827BDF1}"/>
              </a:ext>
            </a:extLst>
          </p:cNvPr>
          <p:cNvSpPr txBox="1"/>
          <p:nvPr/>
        </p:nvSpPr>
        <p:spPr>
          <a:xfrm>
            <a:off x="3564193" y="707923"/>
            <a:ext cx="50636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Histogram of X-Coordinate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E81A76-39C0-3AA7-5C60-B7B1473711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1356" y="1292698"/>
            <a:ext cx="5669286" cy="42224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AE5FE9-ECAD-D5DB-2F94-218DC15F27D7}"/>
              </a:ext>
            </a:extLst>
          </p:cNvPr>
          <p:cNvSpPr txBox="1"/>
          <p:nvPr/>
        </p:nvSpPr>
        <p:spPr>
          <a:xfrm>
            <a:off x="1396180" y="5730609"/>
            <a:ext cx="1054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This Figures shows that how x-values are symmetrically distributed across the fern’s width.</a:t>
            </a:r>
          </a:p>
        </p:txBody>
      </p:sp>
    </p:spTree>
    <p:extLst>
      <p:ext uri="{BB962C8B-B14F-4D97-AF65-F5344CB8AC3E}">
        <p14:creationId xmlns:p14="http://schemas.microsoft.com/office/powerpoint/2010/main" val="35299395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BCCB8-092C-1750-8155-565C938EBFEB}"/>
              </a:ext>
            </a:extLst>
          </p:cNvPr>
          <p:cNvSpPr txBox="1"/>
          <p:nvPr/>
        </p:nvSpPr>
        <p:spPr>
          <a:xfrm>
            <a:off x="3139440" y="643098"/>
            <a:ext cx="6370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Histogram of Y-Coordinate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BFF28F-93D6-6047-B60C-BB3CAA02D7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5854" y="1344421"/>
            <a:ext cx="5852172" cy="42241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DE5C065-B744-53EF-CF1A-A93F829F3381}"/>
              </a:ext>
            </a:extLst>
          </p:cNvPr>
          <p:cNvSpPr txBox="1"/>
          <p:nvPr/>
        </p:nvSpPr>
        <p:spPr>
          <a:xfrm>
            <a:off x="1219200" y="5712054"/>
            <a:ext cx="9291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This Figure displays the vertical density pattern, highlighting the fern’s height structure.</a:t>
            </a:r>
          </a:p>
        </p:txBody>
      </p:sp>
    </p:spTree>
    <p:extLst>
      <p:ext uri="{BB962C8B-B14F-4D97-AF65-F5344CB8AC3E}">
        <p14:creationId xmlns:p14="http://schemas.microsoft.com/office/powerpoint/2010/main" val="39098059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E16DFB-CA85-0526-4A35-4D0C9D2B67B5}"/>
              </a:ext>
            </a:extLst>
          </p:cNvPr>
          <p:cNvSpPr txBox="1"/>
          <p:nvPr/>
        </p:nvSpPr>
        <p:spPr>
          <a:xfrm>
            <a:off x="2443480" y="781099"/>
            <a:ext cx="7701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Conclusion and Real Life Applications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D0D6FA-FC18-694B-44F2-5587153BD1FC}"/>
              </a:ext>
            </a:extLst>
          </p:cNvPr>
          <p:cNvSpPr txBox="1"/>
          <p:nvPr/>
        </p:nvSpPr>
        <p:spPr>
          <a:xfrm>
            <a:off x="633845" y="1665700"/>
            <a:ext cx="1120139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Conclusion:-</a:t>
            </a:r>
          </a:p>
          <a:p>
            <a:endParaRPr lang="en-US" sz="2400" b="1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/>
              <a:t>Barnsley’s Fern shows how simple math rules create complex natural patterns.</a:t>
            </a:r>
          </a:p>
          <a:p>
            <a:endParaRPr lang="en-US" sz="2400" b="1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/>
              <a:t>Using Iterated Function Systems (IFS) and probability makes realistic fractals.</a:t>
            </a:r>
          </a:p>
          <a:p>
            <a:endParaRPr lang="en-US" sz="2400" b="1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/>
              <a:t>Statistical tests confirm predictable structure with small random variations.</a:t>
            </a:r>
          </a:p>
          <a:p>
            <a:endParaRPr lang="en-US" sz="2400" b="1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/>
              <a:t>The project connects math, statistics, and nature showing order in randomness.</a:t>
            </a:r>
          </a:p>
        </p:txBody>
      </p:sp>
    </p:spTree>
    <p:extLst>
      <p:ext uri="{BB962C8B-B14F-4D97-AF65-F5344CB8AC3E}">
        <p14:creationId xmlns:p14="http://schemas.microsoft.com/office/powerpoint/2010/main" val="12027081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0B8A6B-6B44-CAD9-E9AE-AB788906DBC7}"/>
              </a:ext>
            </a:extLst>
          </p:cNvPr>
          <p:cNvSpPr txBox="1"/>
          <p:nvPr/>
        </p:nvSpPr>
        <p:spPr>
          <a:xfrm>
            <a:off x="1188720" y="1117600"/>
            <a:ext cx="938784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Real-Life Applications:- </a:t>
            </a:r>
          </a:p>
          <a:p>
            <a:endParaRPr lang="en-IN" dirty="0"/>
          </a:p>
          <a:p>
            <a:pPr marL="342900" indent="-342900">
              <a:buAutoNum type="arabicPeriod"/>
            </a:pPr>
            <a:r>
              <a:rPr lang="en-IN" sz="2000" b="1" dirty="0"/>
              <a:t>Nature Modelling</a:t>
            </a:r>
            <a:endParaRPr lang="en-IN" sz="2000" dirty="0"/>
          </a:p>
          <a:p>
            <a:pPr marL="342900" indent="-342900">
              <a:buAutoNum type="arabicPeriod"/>
            </a:pPr>
            <a:endParaRPr lang="en-IN" sz="2000" dirty="0"/>
          </a:p>
          <a:p>
            <a:pPr marL="342900" indent="-342900">
              <a:buAutoNum type="arabicPeriod"/>
            </a:pPr>
            <a:r>
              <a:rPr lang="en-IN" sz="2000" b="1" dirty="0"/>
              <a:t>Computer Graphics &amp; Animation</a:t>
            </a:r>
            <a:endParaRPr lang="en-IN" sz="2000" dirty="0"/>
          </a:p>
          <a:p>
            <a:pPr marL="342900" indent="-342900">
              <a:buAutoNum type="arabicPeriod"/>
            </a:pPr>
            <a:endParaRPr lang="en-IN" sz="2000" dirty="0"/>
          </a:p>
          <a:p>
            <a:pPr marL="342900" indent="-342900">
              <a:buAutoNum type="arabicPeriod"/>
            </a:pPr>
            <a:r>
              <a:rPr lang="en-IN" sz="2000" b="1" dirty="0"/>
              <a:t>Data Analysis &amp; Statistics</a:t>
            </a:r>
            <a:endParaRPr lang="en-IN" sz="2000" dirty="0"/>
          </a:p>
          <a:p>
            <a:pPr marL="342900" indent="-342900">
              <a:buAutoNum type="arabicPeriod"/>
            </a:pPr>
            <a:endParaRPr lang="en-IN" sz="2000" dirty="0"/>
          </a:p>
          <a:p>
            <a:pPr marL="342900" indent="-342900">
              <a:buAutoNum type="arabicPeriod"/>
            </a:pPr>
            <a:r>
              <a:rPr lang="en-IN" sz="2000" b="1" dirty="0"/>
              <a:t>Mathematical Education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86157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608DBB-E2D6-82FF-0437-E2C59AFB2097}"/>
              </a:ext>
            </a:extLst>
          </p:cNvPr>
          <p:cNvSpPr txBox="1"/>
          <p:nvPr/>
        </p:nvSpPr>
        <p:spPr>
          <a:xfrm>
            <a:off x="4800600" y="822960"/>
            <a:ext cx="259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CBF201-0248-1A22-9185-1423BEE8C869}"/>
              </a:ext>
            </a:extLst>
          </p:cNvPr>
          <p:cNvSpPr txBox="1"/>
          <p:nvPr/>
        </p:nvSpPr>
        <p:spPr>
          <a:xfrm>
            <a:off x="1666240" y="1940560"/>
            <a:ext cx="885952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Barnsley, M. F. (1988). Fractals Everywhere. Academic Press.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Wikipedia – Barnsley Fern</a:t>
            </a:r>
          </a:p>
          <a:p>
            <a:r>
              <a:rPr lang="en-IN" sz="2000" dirty="0"/>
              <a:t>      (</a:t>
            </a:r>
            <a:r>
              <a:rPr lang="en-IN" sz="2000" dirty="0">
                <a:hlinkClick r:id="rId2"/>
              </a:rPr>
              <a:t>https://en.wikipedia.org/wiki/Barnsley_fern</a:t>
            </a:r>
            <a:r>
              <a:rPr lang="en-IN" sz="2000" dirty="0"/>
              <a:t>)</a:t>
            </a:r>
          </a:p>
          <a:p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NumPy, Matplotlib, and Pandas – Python libraries used for data generation and visualization.</a:t>
            </a:r>
          </a:p>
          <a:p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Statistical formula references – Applied Statistics and Probability for Engineers (Montgomery &amp; </a:t>
            </a:r>
            <a:r>
              <a:rPr lang="en-IN" sz="2000" dirty="0" err="1"/>
              <a:t>Runger</a:t>
            </a:r>
            <a:r>
              <a:rPr lang="en-IN" sz="20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3111518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FE70D2-37B5-3FD5-2B6B-2FB005A022D5}"/>
              </a:ext>
            </a:extLst>
          </p:cNvPr>
          <p:cNvSpPr txBox="1"/>
          <p:nvPr/>
        </p:nvSpPr>
        <p:spPr>
          <a:xfrm>
            <a:off x="3377045" y="1911927"/>
            <a:ext cx="63488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489885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865</TotalTime>
  <Words>1028</Words>
  <Application>Microsoft Office PowerPoint</Application>
  <PresentationFormat>Widescreen</PresentationFormat>
  <Paragraphs>170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Cambria Math</vt:lpstr>
      <vt:lpstr>Garamond</vt:lpstr>
      <vt:lpstr>Wingdings</vt:lpstr>
      <vt:lpstr>Organic</vt:lpstr>
      <vt:lpstr>Statistical Analysis of Barnsley’s Fern : An Application of linear algebra in fractals.</vt:lpstr>
      <vt:lpstr>Index</vt:lpstr>
      <vt:lpstr>Acknowledgement</vt:lpstr>
      <vt:lpstr>Abstract</vt:lpstr>
      <vt:lpstr>Introduction     </vt:lpstr>
      <vt:lpstr>Introduction to Barnsley’s Fern :</vt:lpstr>
      <vt:lpstr>PowerPoint Presentation</vt:lpstr>
      <vt:lpstr>Importance Of Barnsley’s Fern in Statistics and Mathematics :</vt:lpstr>
      <vt:lpstr>Mathematical Representation of Barnsley’s Fern  :</vt:lpstr>
      <vt:lpstr>Transformation Rules :</vt:lpstr>
      <vt:lpstr>PowerPoint Presentation</vt:lpstr>
      <vt:lpstr>PowerPoint Presentation</vt:lpstr>
      <vt:lpstr>Statistical Process Behind Fern 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Rutuja Chavan</dc:creator>
  <cp:lastModifiedBy>Rutuja Chavan</cp:lastModifiedBy>
  <cp:revision>1</cp:revision>
  <dcterms:created xsi:type="dcterms:W3CDTF">2025-10-05T03:25:21Z</dcterms:created>
  <dcterms:modified xsi:type="dcterms:W3CDTF">2025-11-17T08:40:02Z</dcterms:modified>
</cp:coreProperties>
</file>